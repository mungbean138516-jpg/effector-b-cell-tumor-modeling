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a02593323c4a15" /><Relationship Type="http://schemas.openxmlformats.org/officeDocument/2006/relationships/extended-properties" Target="/docProps/app.xml" Id="Rc3adebe7caa2489e" /><Relationship Type="http://schemas.openxmlformats.org/officeDocument/2006/relationships/officeDocument" Target="/ppt/presentation.xml" Id="Rfe64b51f422842b7" /></Relationships>
</file>

<file path=ppt/presentation.xml><?xml version="1.0" encoding="utf-8"?>
<p:presentation xmlns:p="http://schemas.openxmlformats.org/presentationml/2006/main">
  <p:sldMasterIdLst>
    <p:sldMasterId xmlns:r="http://schemas.openxmlformats.org/officeDocument/2006/relationships" id="2147483648" r:id="R641d9c4b5d574663"/>
  </p:sldMasterIdLst>
  <p:notesMasterIdLst>
    <p:notesMasterId xmlns:r="http://schemas.openxmlformats.org/officeDocument/2006/relationships" r:id="R547d786a14d94159"/>
  </p:notesMasterIdLst>
  <p:sldIdLst>
    <p:sldId xmlns:r="http://schemas.openxmlformats.org/officeDocument/2006/relationships" id="256" r:id="R66204523e3ba47cb"/>
    <p:sldId xmlns:r="http://schemas.openxmlformats.org/officeDocument/2006/relationships" id="257" r:id="Rf212c51645d54e08"/>
    <p:sldId xmlns:r="http://schemas.openxmlformats.org/officeDocument/2006/relationships" id="258" r:id="R39cff82883a4464f"/>
    <p:sldId xmlns:r="http://schemas.openxmlformats.org/officeDocument/2006/relationships" id="259" r:id="R768fe9a15f134ea1"/>
    <p:sldId xmlns:r="http://schemas.openxmlformats.org/officeDocument/2006/relationships" id="260" r:id="Rc45fced0aa54427b"/>
    <p:sldId xmlns:r="http://schemas.openxmlformats.org/officeDocument/2006/relationships" id="261" r:id="Ra92b365e1c1c4b7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85e5852ae14921" /><Relationship Type="http://schemas.openxmlformats.org/officeDocument/2006/relationships/slideMaster" Target="/ppt/slideMasters/slideMaster1.xml" Id="R641d9c4b5d574663" /><Relationship Type="http://schemas.openxmlformats.org/officeDocument/2006/relationships/notesMaster" Target="/ppt/notesMasters/notesMaster1.xml" Id="R547d786a14d94159" /><Relationship Type="http://schemas.openxmlformats.org/officeDocument/2006/relationships/presProps" Target="/ppt/presProps.xml" Id="R459158c87d9648a8" /><Relationship Type="http://schemas.openxmlformats.org/officeDocument/2006/relationships/tableStyles" Target="/ppt/tableStyles.xml" Id="R81f5cf32b22b40e8" /><Relationship Type="http://schemas.openxmlformats.org/officeDocument/2006/relationships/slide" Target="/ppt/slides/slide1.xml" Id="R66204523e3ba47cb" /><Relationship Type="http://schemas.openxmlformats.org/officeDocument/2006/relationships/slide" Target="/ppt/slides/slide2.xml" Id="Rf212c51645d54e08" /><Relationship Type="http://schemas.openxmlformats.org/officeDocument/2006/relationships/slide" Target="/ppt/slides/slide3.xml" Id="R39cff82883a4464f" /><Relationship Type="http://schemas.openxmlformats.org/officeDocument/2006/relationships/slide" Target="/ppt/slides/slide4.xml" Id="R768fe9a15f134ea1" /><Relationship Type="http://schemas.openxmlformats.org/officeDocument/2006/relationships/slide" Target="/ppt/slides/slide5.xml" Id="Rc45fced0aa54427b" /><Relationship Type="http://schemas.openxmlformats.org/officeDocument/2006/relationships/slide" Target="/ppt/slides/slide6.xml" Id="Ra92b365e1c1c4b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36fbbb702d841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6add35fcdc47fe" /><Relationship Type="http://schemas.openxmlformats.org/officeDocument/2006/relationships/notesMaster" Target="/ppt/notesMasters/notesMaster1.xml" Id="R746cf540b3ed43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0b1d3783b2461c" /><Relationship Type="http://schemas.openxmlformats.org/officeDocument/2006/relationships/notesMaster" Target="/ppt/notesMasters/notesMaster1.xml" Id="R7bf443f074c349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25a5ecc6764658" /><Relationship Type="http://schemas.openxmlformats.org/officeDocument/2006/relationships/notesMaster" Target="/ppt/notesMasters/notesMaster1.xml" Id="Rc939f3da038f46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53eaa2dd074e48" /><Relationship Type="http://schemas.openxmlformats.org/officeDocument/2006/relationships/notesMaster" Target="/ppt/notesMasters/notesMaster1.xml" Id="R7f891429aec249f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4643d22e9f4385" /><Relationship Type="http://schemas.openxmlformats.org/officeDocument/2006/relationships/notesMaster" Target="/ppt/notesMasters/notesMaster1.xml" Id="Rceab3648854a44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bb7daa07aae46d5" /><Relationship Type="http://schemas.openxmlformats.org/officeDocument/2006/relationships/notesMaster" Target="/ppt/notesMasters/notesMaster1.xml" Id="R85b7a07b815a41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update asks a narrow question: after validating the stochastic implementation, do one-year trajectories show a change near the deterministic B-cell fold?</a:t>
            </a:r>
          </a:p>
          <a:p xmlns:a="http://schemas.openxmlformats.org/drawingml/2006/main">
            <a:r>
              <a:t/>
            </a:r>
          </a:p>
          <a:p xmlns:a="http://schemas.openxmlformats.org/drawingml/2006/main">
            <a:r>
              <a:t>[Sources]</a:t>
            </a:r>
          </a:p>
          <a:p xmlns:a="http://schemas.openxmlformats.org/drawingml/2006/main">
            <a:r>
              <a:t>- https://pmc.ncbi.nlm.nih.gov/articles/PMC10155038/</a:t>
            </a:r>
          </a:p>
          <a:p xmlns:a="http://schemas.openxmlformats.org/drawingml/2006/main">
            <a:r>
              <a:t>- https://github.com/maclean-lab/ModelingMDSCs</a:t>
            </a:r>
          </a:p>
          <a:p xmlns:a="http://schemas.openxmlformats.org/drawingml/2006/main">
            <a:r>
              <a:t>- /workspace/scratch/a86a8733f137/user-repo/README.md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apparent near-100% result was not biological. A negative immune state could terminate integration while tumor remained near its initial value; the old classifier then counted that incomplete path as success.</a:t>
            </a:r>
          </a:p>
          <a:p xmlns:a="http://schemas.openxmlformats.org/drawingml/2006/main">
            <a:r>
              <a:t/>
            </a:r>
          </a:p>
          <a:p xmlns:a="http://schemas.openxmlformats.org/drawingml/2006/main">
            <a:r>
              <a:t>[Sources]</a:t>
            </a:r>
          </a:p>
          <a:p xmlns:a="http://schemas.openxmlformats.org/drawingml/2006/main">
            <a:r>
              <a:t>- /workspace/scratch/a86a8733f137/user-repo/results/post_meeting/sde_validation/README.md</a:t>
            </a:r>
          </a:p>
          <a:p xmlns:a="http://schemas.openxmlformats.org/drawingml/2006/main">
            <a:r>
              <a:t>- /workspace/scratch/a86a8733f137/user-repo/code/post_meeting/sde_validation/EffectorBSDE.jl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pipeline first fixes the event definition, then checks solver behavior, and only then asks whether the original four-state result can be recovered. The five-state near-fold pilot is blocked unless these gates pass.</a:t>
            </a:r>
          </a:p>
          <a:p xmlns:a="http://schemas.openxmlformats.org/drawingml/2006/main">
            <a:r>
              <a:t/>
            </a:r>
          </a:p>
          <a:p xmlns:a="http://schemas.openxmlformats.org/drawingml/2006/main">
            <a:r>
              <a:t>[Sources]</a:t>
            </a:r>
          </a:p>
          <a:p xmlns:a="http://schemas.openxmlformats.org/drawingml/2006/main">
            <a:r>
              <a:t>- https://pmc.ncbi.nlm.nih.gov/articles/PMC10155038/</a:t>
            </a:r>
          </a:p>
          <a:p xmlns:a="http://schemas.openxmlformats.org/drawingml/2006/main">
            <a:r>
              <a:t>- https://github.com/maclean-lab/ModelingMDSCs</a:t>
            </a:r>
          </a:p>
          <a:p xmlns:a="http://schemas.openxmlformats.org/drawingml/2006/main">
            <a:r>
              <a:t>- /workspace/scratch/a86a8733f137/user-repo/code/post_meeting/sde_validation/README.md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Key checks: zero-noise error versus ODE was 5.12e-7; the paper regression was 0.330 with the published 0.321711 inside the 99% Wilson interval; the three time-resolution estimates spanned 0.07, within the 0.10 gate.</a:t>
            </a:r>
          </a:p>
          <a:p xmlns:a="http://schemas.openxmlformats.org/drawingml/2006/main">
            <a:r>
              <a:t/>
            </a:r>
          </a:p>
          <a:p xmlns:a="http://schemas.openxmlformats.org/drawingml/2006/main">
            <a:r>
              <a:t>[Sources]</a:t>
            </a:r>
          </a:p>
          <a:p xmlns:a="http://schemas.openxmlformats.org/drawingml/2006/main">
            <a:r>
              <a:t>- /workspace/scratch/a86a8733f137/user-repo/results/post_meeting/sde_validation/validation_gates.csv</a:t>
            </a:r>
          </a:p>
          <a:p xmlns:a="http://schemas.openxmlformats.org/drawingml/2006/main">
            <a:r>
              <a:t>- /workspace/scratch/a86a8733f137/user-repo/results/post_meeting/sde_validation/time_resolution_estimates.csv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pilot used 200 trajectories at each of five b6 values, for 1,000 valid trajectories total. Because every trajectory starts from a two-cell inoculation state, this measures establishment or early fate selection, not stochastic switching between established attractors.</a:t>
            </a:r>
          </a:p>
          <a:p xmlns:a="http://schemas.openxmlformats.org/drawingml/2006/main">
            <a:r>
              <a:t/>
            </a:r>
          </a:p>
          <a:p xmlns:a="http://schemas.openxmlformats.org/drawingml/2006/main">
            <a:r>
              <a:t>[Sources]</a:t>
            </a:r>
          </a:p>
          <a:p xmlns:a="http://schemas.openxmlformats.org/drawingml/2006/main">
            <a:r>
              <a:t>- /workspace/scratch/a86a8733f137/user-repo/results/post_meeting/sde_validation/near_fold_pilot_summary.csv</a:t>
            </a:r>
          </a:p>
          <a:p xmlns:a="http://schemas.openxmlformats.org/drawingml/2006/main">
            <a:r>
              <a:t>- /workspace/scratch/a86a8733f137/user-repo/results/post_meeting/sde_validation/near_fold_establishment_probability.png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 retain the deterministic saddle-node as the primary current result. If the scientific question is establishment, next calibrate noise scale and run sensitivity analyses. If the question is true switching, initialize near established attractors and define basin-crossing events.</a:t>
            </a:r>
          </a:p>
          <a:p xmlns:a="http://schemas.openxmlformats.org/drawingml/2006/main">
            <a:r>
              <a:t/>
            </a:r>
          </a:p>
          <a:p xmlns:a="http://schemas.openxmlformats.org/drawingml/2006/main">
            <a:r>
              <a:t>[Sources]</a:t>
            </a:r>
          </a:p>
          <a:p xmlns:a="http://schemas.openxmlformats.org/drawingml/2006/main">
            <a:r>
              <a:t>- /workspace/scratch/a86a8733f137/user-repo/README.md</a:t>
            </a:r>
          </a:p>
          <a:p xmlns:a="http://schemas.openxmlformats.org/drawingml/2006/main">
            <a:r>
              <a:t>- /workspace/scratch/a86a8733f137/user-repo/results/post_meeting/sde_validation/README.md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830ae2d3884b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020da341dc41f6" /><Relationship Type="http://schemas.openxmlformats.org/officeDocument/2006/relationships/slideLayout" Target="/ppt/slideLayouts/slideLayout1.xml" Id="Rd92a24a7b53b4b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2a24a7b53b4b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a49b2180784644" /><Relationship Type="http://schemas.openxmlformats.org/officeDocument/2006/relationships/notesSlide" Target="/ppt/notesSlides/notesSlide1.xml" Id="Ra838492cc3374a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b28695687d64844" /><Relationship Type="http://schemas.openxmlformats.org/officeDocument/2006/relationships/notesSlide" Target="/ppt/notesSlides/notesSlide2.xml" Id="Re75a9b7dffff4b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80dc2a8504345ee" /><Relationship Type="http://schemas.openxmlformats.org/officeDocument/2006/relationships/notesSlide" Target="/ppt/notesSlides/notesSlide3.xml" Id="Rddb91380dc8a40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08df04dfa294ca3" /><Relationship Type="http://schemas.openxmlformats.org/officeDocument/2006/relationships/notesSlide" Target="/ppt/notesSlides/notesSlide4.xml" Id="R2ea8dac6e62447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6e76cbedade4004" /><Relationship Type="http://schemas.openxmlformats.org/officeDocument/2006/relationships/image" Target="/ppt/media/image.png" Id="R27ed9a906d414e71" /><Relationship Type="http://schemas.openxmlformats.org/officeDocument/2006/relationships/notesSlide" Target="/ppt/notesSlides/notesSlide5.xml" Id="R9c5f9d69774048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ac895dc027b4ec1" /><Relationship Type="http://schemas.openxmlformats.org/officeDocument/2006/relationships/notesSlide" Target="/ppt/notesSlides/notesSlide6.xml" Id="R8391db0f41274ec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Title-3-1">
            <a:extLst xmlns:a="http://schemas.openxmlformats.org/drawingml/2006/main">
              <a:ext uri="{FF2B5EF4-FFF2-40B4-BE49-F238E27FC236}">
                <a16:creationId xmlns:a16="http://schemas.microsoft.com/office/drawing/2014/main" id="{E1510A5E-D776-47DD-9608-436252D942D4}"/>
              </a:ext>
            </a:extLst>
          </p:cNvPr>
          <p:cNvSpPr>
            <a:spLocks xmlns:a="http://schemas.openxmlformats.org/drawingml/2006/main" noGrp="1"/>
          </p:cNvSpPr>
          <p:nvPr/>
        </p:nvSpPr>
        <p:spPr>
          <a:xfrm xmlns:a="http://schemas.openxmlformats.org/drawingml/2006/main">
            <a:off x="393668" y="2579942"/>
            <a:ext cx="9448800" cy="3624263"/>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Validating stochastic tumor establishment near the B-cell fold</a:t>
            </a:r>
          </a:p>
        </p:txBody>
      </p:sp>
      <p:sp>
        <p:nvSpPr>
          <p:cNvPr id="2" name="Subtitle-4-2">
            <a:extLst xmlns:a="http://schemas.openxmlformats.org/drawingml/2006/main">
              <a:ext uri="{FF2B5EF4-FFF2-40B4-BE49-F238E27FC236}">
                <a16:creationId xmlns:a16="http://schemas.microsoft.com/office/drawing/2014/main" id="{17D40246-635F-48C2-8456-39116123EF39}"/>
              </a:ext>
            </a:extLst>
          </p:cNvPr>
          <p:cNvSpPr>
            <a:spLocks xmlns:a="http://schemas.openxmlformats.org/drawingml/2006/main" noGrp="1"/>
          </p:cNvSpPr>
          <p:nvPr/>
        </p:nvSpPr>
        <p:spPr>
          <a:xfrm xmlns:a="http://schemas.openxmlformats.org/drawingml/2006/main">
            <a:off x="393668" y="392240"/>
            <a:ext cx="6157817"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Effector B-cell tumor model</a:t>
            </a:r>
          </a:p>
        </p:txBody>
      </p:sp>
      <p:sp>
        <p:nvSpPr>
          <p:cNvPr id="3" name="Subtitle-4-3">
            <a:extLst xmlns:a="http://schemas.openxmlformats.org/drawingml/2006/main">
              <a:ext uri="{FF2B5EF4-FFF2-40B4-BE49-F238E27FC236}">
                <a16:creationId xmlns:a16="http://schemas.microsoft.com/office/drawing/2014/main" id="{5B3F1402-7BF8-48E0-9C5F-D5A154F1DD07}"/>
              </a:ext>
            </a:extLst>
          </p:cNvPr>
          <p:cNvSpPr>
            <a:spLocks xmlns:a="http://schemas.openxmlformats.org/drawingml/2006/main" noGrp="1"/>
          </p:cNvSpPr>
          <p:nvPr/>
        </p:nvSpPr>
        <p:spPr>
          <a:xfrm xmlns:a="http://schemas.openxmlformats.org/drawingml/2006/main">
            <a:off x="7886700" y="392240"/>
            <a:ext cx="39116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PI update · Jul 2026</a:t>
            </a:r>
          </a:p>
        </p:txBody>
      </p:sp>
    </p:spTree>
    <p:extLst>
      <p:ext uri="{BB962C8B-B14F-4D97-AF65-F5344CB8AC3E}">
        <p14:creationId xmlns:p14="http://schemas.microsoft.com/office/powerpoint/2010/main" val="77372417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Google-Shape-532-p58-2">
            <a:extLst xmlns:a="http://schemas.openxmlformats.org/drawingml/2006/main">
              <a:ext uri="{FF2B5EF4-FFF2-40B4-BE49-F238E27FC236}">
                <a16:creationId xmlns:a16="http://schemas.microsoft.com/office/drawing/2014/main" id="{31B881DB-577F-4783-9B2F-C66C10F11E7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2</a:t>
            </a:r>
          </a:p>
        </p:txBody>
      </p:sp>
      <p:sp>
        <p:nvSpPr>
          <p:cNvPr id="2" name="Google-Shape-533-p58-3">
            <a:extLst xmlns:a="http://schemas.openxmlformats.org/drawingml/2006/main">
              <a:ext uri="{FF2B5EF4-FFF2-40B4-BE49-F238E27FC236}">
                <a16:creationId xmlns:a16="http://schemas.microsoft.com/office/drawing/2014/main" id="{D9004787-6AF8-401C-98FE-D1AB07383AB9}"/>
              </a:ext>
            </a:extLst>
          </p:cNvPr>
          <p:cNvSpPr>
            <a:spLocks xmlns:a="http://schemas.openxmlformats.org/drawingml/2006/main" noGrp="1"/>
          </p:cNvSpPr>
          <p:nvPr/>
        </p:nvSpPr>
        <p:spPr>
          <a:xfrm xmlns:a="http://schemas.openxmlformats.org/drawingml/2006/main">
            <a:off x="393668" y="344519"/>
            <a:ext cx="11404568" cy="644271"/>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The old SDE “success” rate was a numerical artifact</a:t>
            </a:r>
          </a:p>
        </p:txBody>
      </p:sp>
      <p:sp>
        <p:nvSpPr>
          <p:cNvPr id="3" name="Rounded-Rectangle-1-4">
            <a:extLst xmlns:a="http://schemas.openxmlformats.org/drawingml/2006/main">
              <a:ext uri="{FF2B5EF4-FFF2-40B4-BE49-F238E27FC236}">
                <a16:creationId xmlns:a16="http://schemas.microsoft.com/office/drawing/2014/main" id="{A3D7D768-4CF5-4D31-AB8D-D68DDEA01321}"/>
              </a:ext>
            </a:extLst>
          </p:cNvPr>
          <p:cNvSpPr>
            <a:spLocks xmlns:a="http://schemas.openxmlformats.org/drawingml/2006/main" noGrp="1"/>
          </p:cNvSpPr>
          <p:nvPr/>
        </p:nvSpPr>
        <p:spPr>
          <a:xfrm xmlns:a="http://schemas.openxmlformats.org/drawingml/2006/main">
            <a:off x="397002"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2DE85F35-39D5-4D4A-B0D7-307DC377032A}"/>
              </a:ext>
            </a:extLst>
          </p:cNvPr>
          <p:cNvSpPr>
            <a:spLocks xmlns:a="http://schemas.openxmlformats.org/drawingml/2006/main" noGrp="1"/>
          </p:cNvSpPr>
          <p:nvPr/>
        </p:nvSpPr>
        <p:spPr>
          <a:xfrm xmlns:a="http://schemas.openxmlformats.org/drawingml/2006/main">
            <a:off x="694277"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Early stop + T &gt; 1
= “success”</a:t>
            </a:r>
          </a:p>
        </p:txBody>
      </p:sp>
      <p:sp>
        <p:nvSpPr>
          <p:cNvPr id="5" name="Content-Placeholder-15-6">
            <a:extLst xmlns:a="http://schemas.openxmlformats.org/drawingml/2006/main">
              <a:ext uri="{FF2B5EF4-FFF2-40B4-BE49-F238E27FC236}">
                <a16:creationId xmlns:a16="http://schemas.microsoft.com/office/drawing/2014/main" id="{1FE8BCF3-9758-4863-8CAB-91B31C53DD87}"/>
              </a:ext>
            </a:extLst>
          </p:cNvPr>
          <p:cNvSpPr>
            <a:spLocks xmlns:a="http://schemas.openxmlformats.org/drawingml/2006/main" noGrp="1"/>
          </p:cNvSpPr>
          <p:nvPr/>
        </p:nvSpPr>
        <p:spPr>
          <a:xfrm xmlns:a="http://schemas.openxmlformats.org/drawingml/2006/main">
            <a:off x="694277"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Retcode unchecked
</a:t>
            </a:r>
          </a:p>
          <a:p xmlns:a="http://schemas.openxmlformats.org/drawingml/2006/main">
            <a:pPr algn="l">
              <a:defRPr sz="1600">
                <a:solidFill>
                  <a:srgbClr val="000000"/>
                </a:solidFill>
                <a:latin typeface="Helvetica Neue"/>
                <a:ea typeface="Helvetica Neue"/>
                <a:cs typeface="Helvetica Neue"/>
              </a:defRPr>
            </a:pPr>
            <a:r>
              <a:t>Day 365 not required
</a:t>
            </a:r>
          </a:p>
          <a:p xmlns:a="http://schemas.openxmlformats.org/drawingml/2006/main">
            <a:pPr algn="l">
              <a:defRPr sz="1600">
                <a:solidFill>
                  <a:srgbClr val="000000"/>
                </a:solidFill>
                <a:latin typeface="Helvetica Neue"/>
                <a:ea typeface="Helvetica Neue"/>
                <a:cs typeface="Helvetica Neue"/>
              </a:defRPr>
            </a:pPr>
            <a:r>
              <a:t>Non-tumor failure counted</a:t>
            </a:r>
          </a:p>
        </p:txBody>
      </p:sp>
      <p:sp>
        <p:nvSpPr>
          <p:cNvPr id="6" name="Rounded-Rectangle-7-7">
            <a:extLst xmlns:a="http://schemas.openxmlformats.org/drawingml/2006/main">
              <a:ext uri="{FF2B5EF4-FFF2-40B4-BE49-F238E27FC236}">
                <a16:creationId xmlns:a16="http://schemas.microsoft.com/office/drawing/2014/main" id="{24971C39-A78A-42E1-920B-F676C4383C63}"/>
              </a:ext>
            </a:extLst>
          </p:cNvPr>
          <p:cNvSpPr>
            <a:spLocks xmlns:a="http://schemas.openxmlformats.org/drawingml/2006/main" noGrp="1"/>
          </p:cNvSpPr>
          <p:nvPr/>
        </p:nvSpPr>
        <p:spPr>
          <a:xfrm xmlns:a="http://schemas.openxmlformats.org/drawingml/2006/main">
            <a:off x="6260783"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7" name="Content-Placeholder-10-8">
            <a:extLst xmlns:a="http://schemas.openxmlformats.org/drawingml/2006/main">
              <a:ext uri="{FF2B5EF4-FFF2-40B4-BE49-F238E27FC236}">
                <a16:creationId xmlns:a16="http://schemas.microsoft.com/office/drawing/2014/main" id="{B76930C7-7761-4782-8434-EF703F51F6B4}"/>
              </a:ext>
            </a:extLst>
          </p:cNvPr>
          <p:cNvSpPr>
            <a:spLocks xmlns:a="http://schemas.openxmlformats.org/drawingml/2006/main" noGrp="1"/>
          </p:cNvSpPr>
          <p:nvPr/>
        </p:nvSpPr>
        <p:spPr>
          <a:xfrm xmlns:a="http://schemas.openxmlformats.org/drawingml/2006/main">
            <a:off x="6558058"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Day 365 or explicit
T &lt; 1 removal</a:t>
            </a:r>
          </a:p>
        </p:txBody>
      </p:sp>
      <p:sp>
        <p:nvSpPr>
          <p:cNvPr id="8" name="Content-Placeholder-15-9">
            <a:extLst xmlns:a="http://schemas.openxmlformats.org/drawingml/2006/main">
              <a:ext uri="{FF2B5EF4-FFF2-40B4-BE49-F238E27FC236}">
                <a16:creationId xmlns:a16="http://schemas.microsoft.com/office/drawing/2014/main" id="{9B75535D-FD46-41FF-A833-A8AB17057BF5}"/>
              </a:ext>
            </a:extLst>
          </p:cNvPr>
          <p:cNvSpPr>
            <a:spLocks xmlns:a="http://schemas.openxmlformats.org/drawingml/2006/main" noGrp="1"/>
          </p:cNvSpPr>
          <p:nvPr/>
        </p:nvSpPr>
        <p:spPr>
          <a:xfrm xmlns:a="http://schemas.openxmlformats.org/drawingml/2006/main">
            <a:off x="6558058"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Termination reason logged
</a:t>
            </a:r>
          </a:p>
          <a:p xmlns:a="http://schemas.openxmlformats.org/drawingml/2006/main">
            <a:pPr algn="l">
              <a:defRPr sz="1600">
                <a:solidFill>
                  <a:srgbClr val="000000"/>
                </a:solidFill>
                <a:latin typeface="Helvetica Neue"/>
                <a:ea typeface="Helvetica Neue"/>
                <a:cs typeface="Helvetica Neue"/>
              </a:defRPr>
            </a:pPr>
            <a:r>
              <a:t>Invalid paths excluded
</a:t>
            </a:r>
          </a:p>
          <a:p xmlns:a="http://schemas.openxmlformats.org/drawingml/2006/main">
            <a:pPr algn="l">
              <a:defRPr sz="1600">
                <a:solidFill>
                  <a:srgbClr val="000000"/>
                </a:solidFill>
                <a:latin typeface="Helvetica Neue"/>
                <a:ea typeface="Helvetica Neue"/>
                <a:cs typeface="Helvetica Neue"/>
              </a:defRPr>
            </a:pPr>
            <a:r>
              <a:t>Every seed auditable</a:t>
            </a:r>
          </a:p>
        </p:txBody>
      </p:sp>
      <p:sp>
        <p:nvSpPr>
          <p:cNvPr id="9" name="Content-Placeholder-15-10">
            <a:extLst xmlns:a="http://schemas.openxmlformats.org/drawingml/2006/main">
              <a:ext uri="{FF2B5EF4-FFF2-40B4-BE49-F238E27FC236}">
                <a16:creationId xmlns:a16="http://schemas.microsoft.com/office/drawing/2014/main" id="{522C971F-6CE0-45CB-944E-2CB77B3527BB}"/>
              </a:ext>
            </a:extLst>
          </p:cNvPr>
          <p:cNvSpPr>
            <a:spLocks xmlns:a="http://schemas.openxmlformats.org/drawingml/2006/main" noGrp="1"/>
          </p:cNvSpPr>
          <p:nvPr/>
        </p:nvSpPr>
        <p:spPr>
          <a:xfrm xmlns:a="http://schemas.openxmlformats.org/drawingml/2006/main">
            <a:off x="400907" y="1157478"/>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Earlier scripts could stop when any state became negative, then classify the incomplete path from its last stored tumor value.
</a:t>
            </a:r>
          </a:p>
          <a:p xmlns:a="http://schemas.openxmlformats.org/drawingml/2006/main">
            <a:pPr algn="l">
              <a:defRPr sz="1600">
                <a:solidFill>
                  <a:srgbClr val="000000"/>
                </a:solidFill>
                <a:latin typeface="Helvetica Neue"/>
                <a:ea typeface="Helvetica Neue"/>
                <a:cs typeface="Helvetica Neue"/>
              </a:defRPr>
            </a:pPr>
            <a:r>
              <a:t>That allowed a failed solve to be labeled as a successful tumor.</a:t>
            </a:r>
          </a:p>
          <a:p xmlns:a="http://schemas.openxmlformats.org/drawingml/2006/main">
            <a:pPr algn="l">
              <a:defRPr sz="1600">
                <a:solidFill>
                  <a:srgbClr val="000000"/>
                </a:solidFill>
                <a:latin typeface="Helvetica Neue"/>
                <a:ea typeface="Helvetica Neue"/>
                <a:cs typeface="Helvetica Neue"/>
              </a:defRPr>
            </a:pPr>
            <a:r>
              <a:t/>
            </a:r>
          </a:p>
        </p:txBody>
      </p:sp>
    </p:spTree>
    <p:extLst>
      <p:ext uri="{BB962C8B-B14F-4D97-AF65-F5344CB8AC3E}">
        <p14:creationId xmlns:p14="http://schemas.microsoft.com/office/powerpoint/2010/main" val="103071048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Slide-Number-Placeholder-3-2">
            <a:extLst xmlns:a="http://schemas.openxmlformats.org/drawingml/2006/main">
              <a:ext uri="{FF2B5EF4-FFF2-40B4-BE49-F238E27FC236}">
                <a16:creationId xmlns:a16="http://schemas.microsoft.com/office/drawing/2014/main" id="{FAF63DAD-2800-48CE-A9D7-9DF1D2FFF8EA}"/>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3</a:t>
            </a:r>
          </a:p>
        </p:txBody>
      </p:sp>
      <p:sp>
        <p:nvSpPr>
          <p:cNvPr id="2" name="Title-10-3">
            <a:extLst xmlns:a="http://schemas.openxmlformats.org/drawingml/2006/main">
              <a:ext uri="{FF2B5EF4-FFF2-40B4-BE49-F238E27FC236}">
                <a16:creationId xmlns:a16="http://schemas.microsoft.com/office/drawing/2014/main" id="{5A75D695-81AA-40D9-BFB7-B26D741146FF}"/>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The rebuilt pipeline validates definitions, numerics, and scale</a:t>
            </a:r>
          </a:p>
        </p:txBody>
      </p:sp>
      <p:cxnSp>
        <p:nvCxnSpPr>
          <p:cNvPr id="15"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D278052C-6B8C-45C5-885E-BD6F046F6CA6}"/>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5000CEF6-7C93-4783-A3B9-56D689AF2C04}"/>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ABA91DB3-570E-4D8E-9E96-F8683568A5BA}"/>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043C4F7F-A54C-487F-A3F9-41E1195C6AB8}"/>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1 · Criterion</a:t>
            </a:r>
          </a:p>
        </p:txBody>
      </p:sp>
      <p:sp>
        <p:nvSpPr>
          <p:cNvPr id="8" name="Content-Placeholder-15-9">
            <a:extLst xmlns:a="http://schemas.openxmlformats.org/drawingml/2006/main">
              <a:ext uri="{FF2B5EF4-FFF2-40B4-BE49-F238E27FC236}">
                <a16:creationId xmlns:a16="http://schemas.microsoft.com/office/drawing/2014/main" id="{48EB1A7A-D31B-4FD1-A266-3E4130F80725}"/>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2 · Solver</a:t>
            </a:r>
          </a:p>
        </p:txBody>
      </p:sp>
      <p:sp>
        <p:nvSpPr>
          <p:cNvPr id="9" name="Content-Placeholder-15-10">
            <a:extLst xmlns:a="http://schemas.openxmlformats.org/drawingml/2006/main">
              <a:ext uri="{FF2B5EF4-FFF2-40B4-BE49-F238E27FC236}">
                <a16:creationId xmlns:a16="http://schemas.microsoft.com/office/drawing/2014/main" id="{D3EE5181-5FC4-4E7C-B19D-DFD4F39B5BEC}"/>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3 · Regression</a:t>
            </a:r>
          </a:p>
        </p:txBody>
      </p:sp>
      <p:sp>
        <p:nvSpPr>
          <p:cNvPr id="10" name="Text-Placeholder-16-11">
            <a:extLst xmlns:a="http://schemas.openxmlformats.org/drawingml/2006/main">
              <a:ext uri="{FF2B5EF4-FFF2-40B4-BE49-F238E27FC236}">
                <a16:creationId xmlns:a16="http://schemas.microsoft.com/office/drawing/2014/main" id="{881631D2-A920-443E-A770-6639011B0214}"/>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Verify trajectories
</a:t>
            </a:r>
          </a:p>
          <a:p xmlns:a="http://schemas.openxmlformats.org/drawingml/2006/main">
            <a:pPr algn="l">
              <a:defRPr sz="2400">
                <a:solidFill>
                  <a:srgbClr val="000000"/>
                </a:solidFill>
                <a:latin typeface="Helvetica Neue"/>
                <a:ea typeface="Helvetica Neue"/>
                <a:cs typeface="Helvetica Neue"/>
              </a:defRPr>
            </a:pPr>
            <a:r>
              <a:t>Zero noise, small noise, seed repeatability, nonnegativity, and time resolution.</a:t>
            </a:r>
          </a:p>
        </p:txBody>
      </p:sp>
      <p:sp>
        <p:nvSpPr>
          <p:cNvPr id="11" name="Text-Placeholder-16-12">
            <a:extLst xmlns:a="http://schemas.openxmlformats.org/drawingml/2006/main">
              <a:ext uri="{FF2B5EF4-FFF2-40B4-BE49-F238E27FC236}">
                <a16:creationId xmlns:a16="http://schemas.microsoft.com/office/drawing/2014/main" id="{129621DC-D904-4B76-A73A-595D4F71BB96}"/>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Define the event
</a:t>
            </a:r>
          </a:p>
          <a:p xmlns:a="http://schemas.openxmlformats.org/drawingml/2006/main">
            <a:pPr algn="l">
              <a:defRPr sz="2400">
                <a:solidFill>
                  <a:srgbClr val="000000"/>
                </a:solidFill>
                <a:latin typeface="Helvetica Neue"/>
                <a:ea typeface="Helvetica Neue"/>
                <a:cs typeface="Helvetica Neue"/>
              </a:defRPr>
            </a:pPr>
            <a:r>
              <a:t>Paper: T never falls below 1 during 365 days. A stricter criterion is reported separately.</a:t>
            </a:r>
          </a:p>
        </p:txBody>
      </p:sp>
      <p:sp>
        <p:nvSpPr>
          <p:cNvPr id="12" name="Text-Placeholder-16-13">
            <a:extLst xmlns:a="http://schemas.openxmlformats.org/drawingml/2006/main">
              <a:ext uri="{FF2B5EF4-FFF2-40B4-BE49-F238E27FC236}">
                <a16:creationId xmlns:a16="http://schemas.microsoft.com/office/drawing/2014/main" id="{768DD0F5-55B3-484C-A1C7-A2CD61C30FB7}"/>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Recover the paper
</a:t>
            </a:r>
          </a:p>
          <a:p xmlns:a="http://schemas.openxmlformats.org/drawingml/2006/main">
            <a:pPr algn="l">
              <a:defRPr sz="2400">
                <a:solidFill>
                  <a:srgbClr val="000000"/>
                </a:solidFill>
                <a:latin typeface="Helvetica Neue"/>
                <a:ea typeface="Helvetica Neue"/>
                <a:cs typeface="Helvetica Neue"/>
              </a:defRPr>
            </a:pPr>
            <a:r>
              <a:t>Match the published four-state probability before testing the five-state extension.</a:t>
            </a:r>
          </a:p>
        </p:txBody>
      </p:sp>
    </p:spTree>
    <p:extLst>
      <p:ext uri="{BB962C8B-B14F-4D97-AF65-F5344CB8AC3E}">
        <p14:creationId xmlns:p14="http://schemas.microsoft.com/office/powerpoint/2010/main" val="62709796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Rounded-Rectangle-5-1">
            <a:extLst xmlns:a="http://schemas.openxmlformats.org/drawingml/2006/main">
              <a:ext uri="{FF2B5EF4-FFF2-40B4-BE49-F238E27FC236}">
                <a16:creationId xmlns:a16="http://schemas.microsoft.com/office/drawing/2014/main" id="{AE486308-E4B5-4AB8-8071-46B29D48B8E3}"/>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25C0D5E1-31D6-464B-8E54-EB1A33AFEC78}"/>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1AE42BBB-74B2-4051-9268-FBAB644DBE1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78C67CE7-7A59-4436-AB10-5714287DC384}"/>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4</a:t>
            </a:r>
          </a:p>
        </p:txBody>
      </p:sp>
      <p:sp>
        <p:nvSpPr>
          <p:cNvPr id="5" name="Title-2-5">
            <a:extLst xmlns:a="http://schemas.openxmlformats.org/drawingml/2006/main">
              <a:ext uri="{FF2B5EF4-FFF2-40B4-BE49-F238E27FC236}">
                <a16:creationId xmlns:a16="http://schemas.microsoft.com/office/drawing/2014/main" id="{D28357C3-2DDC-4096-B02A-AB479CD59FC0}"/>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All six validation gates passed before the near-fold pilot</a:t>
            </a:r>
          </a:p>
        </p:txBody>
      </p:sp>
      <p:sp>
        <p:nvSpPr>
          <p:cNvPr id="6" name="Content-Placeholder-9-6">
            <a:extLst xmlns:a="http://schemas.openxmlformats.org/drawingml/2006/main">
              <a:ext uri="{FF2B5EF4-FFF2-40B4-BE49-F238E27FC236}">
                <a16:creationId xmlns:a16="http://schemas.microsoft.com/office/drawing/2014/main" id="{5C8F05CF-5A5C-484F-9060-B01F26F41DC1}"/>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invalid paths
in the final pilot</a:t>
            </a:r>
          </a:p>
        </p:txBody>
      </p:sp>
      <p:sp>
        <p:nvSpPr>
          <p:cNvPr id="7" name="Content-Placeholder-10-7">
            <a:extLst xmlns:a="http://schemas.openxmlformats.org/drawingml/2006/main">
              <a:ext uri="{FF2B5EF4-FFF2-40B4-BE49-F238E27FC236}">
                <a16:creationId xmlns:a16="http://schemas.microsoft.com/office/drawing/2014/main" id="{F3CA998B-98A8-4722-B920-1B7564DBAB8C}"/>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88817"/>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small-noise mean error
acceptance: &lt; 0.10</a:t>
            </a:r>
          </a:p>
        </p:txBody>
      </p:sp>
      <p:sp>
        <p:nvSpPr>
          <p:cNvPr id="8" name="Content-Placeholder-11-8">
            <a:extLst xmlns:a="http://schemas.openxmlformats.org/drawingml/2006/main">
              <a:ext uri="{FF2B5EF4-FFF2-40B4-BE49-F238E27FC236}">
                <a16:creationId xmlns:a16="http://schemas.microsoft.com/office/drawing/2014/main" id="{6C973B0D-09D5-4E36-8518-501EE85A850F}"/>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paper regression
published: 0.3217</a:t>
            </a:r>
          </a:p>
        </p:txBody>
      </p:sp>
      <p:sp>
        <p:nvSpPr>
          <p:cNvPr id="9" name="Content-Placeholder-9-9">
            <a:extLst xmlns:a="http://schemas.openxmlformats.org/drawingml/2006/main">
              <a:ext uri="{FF2B5EF4-FFF2-40B4-BE49-F238E27FC236}">
                <a16:creationId xmlns:a16="http://schemas.microsoft.com/office/drawing/2014/main" id="{FD0BB8F3-D99B-4F6A-B9CA-E3A2DDAD0459}"/>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0</a:t>
            </a:r>
          </a:p>
        </p:txBody>
      </p:sp>
      <p:sp>
        <p:nvSpPr>
          <p:cNvPr id="10" name="Content-Placeholder-9-10">
            <a:extLst xmlns:a="http://schemas.openxmlformats.org/drawingml/2006/main">
              <a:ext uri="{FF2B5EF4-FFF2-40B4-BE49-F238E27FC236}">
                <a16:creationId xmlns:a16="http://schemas.microsoft.com/office/drawing/2014/main" id="{636640AA-3CDD-4F8D-8734-2F20A32AC161}"/>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0.330</a:t>
            </a:r>
          </a:p>
        </p:txBody>
      </p:sp>
      <p:sp>
        <p:nvSpPr>
          <p:cNvPr id="11" name="Content-Placeholder-9-11">
            <a:extLst xmlns:a="http://schemas.openxmlformats.org/drawingml/2006/main">
              <a:ext uri="{FF2B5EF4-FFF2-40B4-BE49-F238E27FC236}">
                <a16:creationId xmlns:a16="http://schemas.microsoft.com/office/drawing/2014/main" id="{1500A846-AC9F-4D1A-BE22-AE56BD078D01}"/>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0.0395</a:t>
            </a:r>
          </a:p>
        </p:txBody>
      </p:sp>
      <p:sp>
        <p:nvSpPr>
          <p:cNvPr id="12" name="Content-Placeholder-15-12">
            <a:extLst xmlns:a="http://schemas.openxmlformats.org/drawingml/2006/main">
              <a:ext uri="{FF2B5EF4-FFF2-40B4-BE49-F238E27FC236}">
                <a16:creationId xmlns:a16="http://schemas.microsoft.com/office/drawing/2014/main" id="{9FB1AFCD-3C26-4B63-A3DE-016B420C3A45}"/>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The corrected implementation reproduces the original stochastic benchmark and removes hidden invalid trajectories.
</a:t>
            </a:r>
          </a:p>
          <a:p xmlns:a="http://schemas.openxmlformats.org/drawingml/2006/main">
            <a:pPr algn="l">
              <a:defRPr sz="1600">
                <a:solidFill>
                  <a:srgbClr val="000000"/>
                </a:solidFill>
                <a:latin typeface="Helvetica Neue"/>
                <a:ea typeface="Helvetica Neue"/>
                <a:cs typeface="Helvetica Neue"/>
              </a:defRPr>
            </a:pPr>
            <a:r>
              <a:t>Unit tests: 26/26 passed.</a:t>
            </a:r>
          </a:p>
        </p:txBody>
      </p:sp>
    </p:spTree>
    <p:extLst>
      <p:ext uri="{BB962C8B-B14F-4D97-AF65-F5344CB8AC3E}">
        <p14:creationId xmlns:p14="http://schemas.microsoft.com/office/powerpoint/2010/main" val="125895466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Slide-Number-Placeholder-3-2">
            <a:extLst xmlns:a="http://schemas.openxmlformats.org/drawingml/2006/main">
              <a:ext uri="{FF2B5EF4-FFF2-40B4-BE49-F238E27FC236}">
                <a16:creationId xmlns:a16="http://schemas.microsoft.com/office/drawing/2014/main" id="{A1F799B7-C355-4B5C-8578-B95F419160D4}"/>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5</a:t>
            </a:r>
          </a:p>
        </p:txBody>
      </p:sp>
      <p:sp>
        <p:nvSpPr>
          <p:cNvPr id="2" name="Title-10-3">
            <a:extLst xmlns:a="http://schemas.openxmlformats.org/drawingml/2006/main">
              <a:ext uri="{FF2B5EF4-FFF2-40B4-BE49-F238E27FC236}">
                <a16:creationId xmlns:a16="http://schemas.microsoft.com/office/drawing/2014/main" id="{C27C248E-587C-4241-BE2C-E6C96085275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The pilot does not resolve a stochastic threshold near b₆*</a:t>
            </a:r>
          </a:p>
        </p:txBody>
      </p:sp>
      <p:sp>
        <p:nvSpPr>
          <p:cNvPr id="3" name="Rounded-Rectangle-36-4">
            <a:extLst xmlns:a="http://schemas.openxmlformats.org/drawingml/2006/main">
              <a:ext uri="{FF2B5EF4-FFF2-40B4-BE49-F238E27FC236}">
                <a16:creationId xmlns:a16="http://schemas.microsoft.com/office/drawing/2014/main" id="{CE8DAF7B-8B4C-4A68-931A-BDA00D1E5391}"/>
              </a:ext>
            </a:extLst>
          </p:cNvPr>
          <p:cNvSpPr>
            <a:spLocks xmlns:a="http://schemas.openxmlformats.org/drawingml/2006/main" noGrp="1"/>
          </p:cNvSpPr>
          <p:nvPr/>
        </p:nvSpPr>
        <p:spPr>
          <a:xfrm xmlns:a="http://schemas.openxmlformats.org/drawingml/2006/main">
            <a:off x="6272022"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4" name="Content-Placeholder-9-5">
            <a:extLst xmlns:a="http://schemas.openxmlformats.org/drawingml/2006/main">
              <a:ext uri="{FF2B5EF4-FFF2-40B4-BE49-F238E27FC236}">
                <a16:creationId xmlns:a16="http://schemas.microsoft.com/office/drawing/2014/main" id="{34EEC168-D425-4ECD-B991-4495A1060C92}"/>
              </a:ext>
            </a:extLst>
          </p:cNvPr>
          <p:cNvSpPr>
            <a:spLocks xmlns:a="http://schemas.openxmlformats.org/drawingml/2006/main" noGrp="1"/>
          </p:cNvSpPr>
          <p:nvPr/>
        </p:nvSpPr>
        <p:spPr>
          <a:xfrm xmlns:a="http://schemas.openxmlformats.org/drawingml/2006/main">
            <a:off x="6509385"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0.200–0.255</a:t>
            </a:r>
          </a:p>
        </p:txBody>
      </p:sp>
      <p:sp>
        <p:nvSpPr>
          <p:cNvPr id="5" name="Content-Placeholder-15-6">
            <a:extLst xmlns:a="http://schemas.openxmlformats.org/drawingml/2006/main">
              <a:ext uri="{FF2B5EF4-FFF2-40B4-BE49-F238E27FC236}">
                <a16:creationId xmlns:a16="http://schemas.microsoft.com/office/drawing/2014/main" id="{0C77BC66-0FDB-43C3-B956-173EE151A7CF}"/>
              </a:ext>
            </a:extLst>
          </p:cNvPr>
          <p:cNvSpPr>
            <a:spLocks xmlns:a="http://schemas.openxmlformats.org/drawingml/2006/main" noGrp="1"/>
          </p:cNvSpPr>
          <p:nvPr/>
        </p:nvSpPr>
        <p:spPr>
          <a:xfrm xmlns:a="http://schemas.openxmlformats.org/drawingml/2006/main">
            <a:off x="6575965" y="5068253"/>
            <a:ext cx="2066735" cy="61598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paper criterion</a:t>
            </a:r>
          </a:p>
        </p:txBody>
      </p:sp>
      <p:sp>
        <p:nvSpPr>
          <p:cNvPr id="6" name="Rounded-Rectangle-39-7">
            <a:extLst xmlns:a="http://schemas.openxmlformats.org/drawingml/2006/main">
              <a:ext uri="{FF2B5EF4-FFF2-40B4-BE49-F238E27FC236}">
                <a16:creationId xmlns:a16="http://schemas.microsoft.com/office/drawing/2014/main" id="{A2B13CCB-D51D-4D51-9CB8-E35F27BC7E36}"/>
              </a:ext>
            </a:extLst>
          </p:cNvPr>
          <p:cNvSpPr>
            <a:spLocks xmlns:a="http://schemas.openxmlformats.org/drawingml/2006/main" noGrp="1"/>
          </p:cNvSpPr>
          <p:nvPr/>
        </p:nvSpPr>
        <p:spPr>
          <a:xfrm xmlns:a="http://schemas.openxmlformats.org/drawingml/2006/main">
            <a:off x="9224201"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7" name="Content-Placeholder-9-8">
            <a:extLst xmlns:a="http://schemas.openxmlformats.org/drawingml/2006/main">
              <a:ext uri="{FF2B5EF4-FFF2-40B4-BE49-F238E27FC236}">
                <a16:creationId xmlns:a16="http://schemas.microsoft.com/office/drawing/2014/main" id="{D5B159DD-DB9B-45D4-B156-65AB3B201592}"/>
              </a:ext>
            </a:extLst>
          </p:cNvPr>
          <p:cNvSpPr>
            <a:spLocks xmlns:a="http://schemas.openxmlformats.org/drawingml/2006/main" noGrp="1"/>
          </p:cNvSpPr>
          <p:nvPr/>
        </p:nvSpPr>
        <p:spPr>
          <a:xfrm xmlns:a="http://schemas.openxmlformats.org/drawingml/2006/main">
            <a:off x="9461564"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0.110–0.160</a:t>
            </a:r>
          </a:p>
        </p:txBody>
      </p:sp>
      <p:sp>
        <p:nvSpPr>
          <p:cNvPr id="8" name="Content-Placeholder-15-9">
            <a:extLst xmlns:a="http://schemas.openxmlformats.org/drawingml/2006/main">
              <a:ext uri="{FF2B5EF4-FFF2-40B4-BE49-F238E27FC236}">
                <a16:creationId xmlns:a16="http://schemas.microsoft.com/office/drawing/2014/main" id="{CED65393-DD1A-4564-BEB2-A1FCB1DEEC23}"/>
              </a:ext>
            </a:extLst>
          </p:cNvPr>
          <p:cNvSpPr>
            <a:spLocks xmlns:a="http://schemas.openxmlformats.org/drawingml/2006/main" noGrp="1"/>
          </p:cNvSpPr>
          <p:nvPr/>
        </p:nvSpPr>
        <p:spPr>
          <a:xfrm xmlns:a="http://schemas.openxmlformats.org/drawingml/2006/main">
            <a:off x="9528143" y="5068253"/>
            <a:ext cx="2066735" cy="61598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strict criterion</a:t>
            </a:r>
          </a:p>
        </p:txBody>
      </p:sp>
      <p:sp>
        <p:nvSpPr>
          <p:cNvPr id="9" name="Content-Placeholder-2-10">
            <a:extLst xmlns:a="http://schemas.openxmlformats.org/drawingml/2006/main">
              <a:ext uri="{FF2B5EF4-FFF2-40B4-BE49-F238E27FC236}">
                <a16:creationId xmlns:a16="http://schemas.microsoft.com/office/drawing/2014/main" id="{9E967723-1904-4598-B975-BC8DD8FDDFE6}"/>
              </a:ext>
            </a:extLst>
          </p:cNvPr>
          <p:cNvSpPr>
            <a:spLocks xmlns:a="http://schemas.openxmlformats.org/drawingml/2006/main" noGrp="1"/>
          </p:cNvSpPr>
          <p:nvPr/>
        </p:nvSpPr>
        <p:spPr>
          <a:xfrm xmlns:a="http://schemas.openxmlformats.org/drawingml/2006/main">
            <a:off x="6261068" y="1955578"/>
            <a:ext cx="5539835" cy="99060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All 95% confidence intervals overlap, and the estimated curve is non-monotonic.</a:t>
            </a:r>
          </a:p>
        </p:txBody>
      </p:sp>
      <p:sp>
        <p:nvSpPr>
          <p:cNvPr id="10" name="pilot-figure-whiteout">
            <a:extLst xmlns:a="http://schemas.openxmlformats.org/drawingml/2006/main">
              <a:ext uri="{FF2B5EF4-FFF2-40B4-BE49-F238E27FC236}">
                <a16:creationId xmlns:a16="http://schemas.microsoft.com/office/drawing/2014/main" id="{052ABDE7-2FE4-4A20-8453-DD6816E9E21C}"/>
              </a:ext>
            </a:extLst>
          </p:cNvPr>
          <p:cNvSpPr>
            <a:spLocks xmlns:a="http://schemas.openxmlformats.org/drawingml/2006/main" noGrp="1"/>
          </p:cNvSpPr>
          <p:nvPr/>
        </p:nvSpPr>
        <p:spPr>
          <a:xfrm xmlns:a="http://schemas.openxmlformats.org/drawingml/2006/main">
            <a:off x="385858" y="1254728"/>
            <a:ext cx="5534216" cy="5024533"/>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27ed9a906d414e71"/>
          <a:stretch xmlns:a="http://schemas.openxmlformats.org/drawingml/2006/main"/>
        </p:blipFill>
        <p:spPr>
          <a:xfrm xmlns:a="http://schemas.openxmlformats.org/drawingml/2006/main">
            <a:off x="492919" y="1254728"/>
            <a:ext cx="5320094" cy="5024533"/>
          </a:xfrm>
          <a:prstGeom xmlns:a="http://schemas.openxmlformats.org/drawingml/2006/main" prst="rect">
            <a:avLst/>
          </a:prstGeom>
        </p:spPr>
      </p:pic>
    </p:spTree>
    <p:extLst>
      <p:ext uri="{BB962C8B-B14F-4D97-AF65-F5344CB8AC3E}">
        <p14:creationId xmlns:p14="http://schemas.microsoft.com/office/powerpoint/2010/main" val="149667518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Title-3-1">
            <a:extLst xmlns:a="http://schemas.openxmlformats.org/drawingml/2006/main">
              <a:ext uri="{FF2B5EF4-FFF2-40B4-BE49-F238E27FC236}">
                <a16:creationId xmlns:a16="http://schemas.microsoft.com/office/drawing/2014/main" id="{EE55368C-3DD0-415D-8716-61793BC48601}"/>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Keep the saddle-node as the primary result.</a:t>
            </a:r>
          </a:p>
        </p:txBody>
      </p:sp>
      <p:sp>
        <p:nvSpPr>
          <p:cNvPr id="2" name="Subtitle-4-2">
            <a:extLst xmlns:a="http://schemas.openxmlformats.org/drawingml/2006/main">
              <a:ext uri="{FF2B5EF4-FFF2-40B4-BE49-F238E27FC236}">
                <a16:creationId xmlns:a16="http://schemas.microsoft.com/office/drawing/2014/main" id="{9A60343C-9C67-415E-9608-C80288B01E64}"/>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Choose: establishment or true switching.
</a:t>
            </a:r>
          </a:p>
          <a:p xmlns:a="http://schemas.openxmlformats.org/drawingml/2006/main">
            <a:pPr algn="l">
              <a:defRPr sz="2400">
                <a:solidFill>
                  <a:srgbClr val="000000"/>
                </a:solidFill>
                <a:latin typeface="Helvetica Neue"/>
                <a:ea typeface="Helvetica Neue"/>
                <a:cs typeface="Helvetica Neue"/>
              </a:defRPr>
            </a:pPr>
            <a:r>
              <a:t>Then design the next test.</a:t>
            </a:r>
          </a:p>
          <a:p xmlns:a="http://schemas.openxmlformats.org/drawingml/2006/main">
            <a:pPr algn="l">
              <a:defRPr sz="2400">
                <a:solidFill>
                  <a:srgbClr val="000000"/>
                </a:solidFill>
                <a:latin typeface="Helvetica Neue"/>
                <a:ea typeface="Helvetica Neue"/>
                <a:cs typeface="Helvetica Neue"/>
              </a:defRPr>
            </a:pPr>
            <a:r>
              <a:t/>
            </a:r>
          </a:p>
        </p:txBody>
      </p:sp>
      <p:sp>
        <p:nvSpPr>
          <p:cNvPr id="3" name="Subtitle-4-3">
            <a:extLst xmlns:a="http://schemas.openxmlformats.org/drawingml/2006/main">
              <a:ext uri="{FF2B5EF4-FFF2-40B4-BE49-F238E27FC236}">
                <a16:creationId xmlns:a16="http://schemas.microsoft.com/office/drawing/2014/main" id="{A883A0AF-C36A-4BE9-898B-B30CF5F23C0C}"/>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DECISION</a:t>
            </a:r>
          </a:p>
        </p:txBody>
      </p:sp>
    </p:spTree>
    <p:extLst>
      <p:ext uri="{BB962C8B-B14F-4D97-AF65-F5344CB8AC3E}">
        <p14:creationId xmlns:p14="http://schemas.microsoft.com/office/powerpoint/2010/main" val="5739538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2026-07-28T10:40:51.1880000Z</dcterms:created>
  <dcterms:modified xsi:type="dcterms:W3CDTF">2026-07-28T10:40:51.1880000Z</dcterms:modified>
</coreProperties>
</file>