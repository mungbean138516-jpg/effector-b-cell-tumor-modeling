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87"/>
  </p:normalViewPr>
  <p:slideViewPr>
    <p:cSldViewPr snapToGrid="0" snapToObjects="1">
      <p:cViewPr varScale="1">
        <p:scale>
          <a:sx n="112" d="100"/>
          <a:sy n="112" d="100"/>
        </p:scale>
        <p:origin x="48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64592"/>
            <a:ext cx="11823192" cy="822960"/>
          </a:xfrm>
          <a:prstGeom prst="rect">
            <a:avLst/>
          </a:prstGeom>
          <a:solidFill>
            <a:srgbClr val="23426C"/>
          </a:solidFill>
          <a:ln>
            <a:solidFill>
              <a:srgbClr val="234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Step 2: is the long-time b6 threshold robust to initial-condition changes?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515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A78"/>
                </a:solidFill>
              </a:rPr>
              <a:t>D1: one-at-a-time IC scan | D2: cleaner replot + 0.1x / 10x supplement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01968"/>
            <a:ext cx="11064240" cy="27432"/>
          </a:xfrm>
          <a:prstGeom prst="rect">
            <a:avLst/>
          </a:prstGeom>
          <a:solidFill>
            <a:srgbClr val="C6D2E0"/>
          </a:solidFill>
          <a:ln>
            <a:solidFill>
              <a:srgbClr val="C6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06A78"/>
                </a:solidFill>
              </a:rPr>
              <a:t>B-cell MDSC model | Step 2 IC robustness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280160"/>
            <a:ext cx="10789920" cy="566928"/>
          </a:xfrm>
          <a:prstGeom prst="roundRect">
            <a:avLst/>
          </a:prstGeom>
          <a:solidFill>
            <a:srgbClr val="E5DFC4"/>
          </a:solidFill>
          <a:ln>
            <a:solidFill>
              <a:srgbClr val="BCB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/>
            <a:r>
              <a:rPr sz="1800" b="1">
                <a:solidFill>
                  <a:srgbClr val="23426C"/>
                </a:solidFill>
              </a:rPr>
              <a:t>Goal: test whether the long-time b6 switch is a real model feature rather than a baseline-IC artifact.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3657600" cy="2743200"/>
          </a:xfrm>
          <a:prstGeom prst="roundRect">
            <a:avLst/>
          </a:prstGeom>
          <a:solidFill>
            <a:srgbClr val="F1F4F8"/>
          </a:solidFill>
          <a:ln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23426C"/>
                </a:solidFill>
              </a:rPr>
              <a:t>Step 2 setup</a:t>
            </a:r>
          </a:p>
          <a:p>
            <a:pPr>
              <a:spcAft>
                <a:spcPts val="200"/>
              </a:spcAft>
              <a:defRPr sz="1600">
                <a:solidFill>
                  <a:srgbClr val="253548"/>
                </a:solidFill>
              </a:defRPr>
            </a:pPr>
            <a:r>
              <a:t>Direct CTL formulation fixed</a:t>
            </a:r>
          </a:p>
          <a:p>
            <a:pPr>
              <a:spcAft>
                <a:spcPts val="200"/>
              </a:spcAft>
              <a:defRPr sz="1600">
                <a:solidFill>
                  <a:srgbClr val="253548"/>
                </a:solidFill>
              </a:defRPr>
            </a:pPr>
            <a:r>
              <a:t>b5 fixed at 1e-4</a:t>
            </a:r>
          </a:p>
          <a:p>
            <a:pPr>
              <a:spcAft>
                <a:spcPts val="200"/>
              </a:spcAft>
              <a:defRPr sz="1600">
                <a:solidFill>
                  <a:srgbClr val="253548"/>
                </a:solidFill>
              </a:defRPr>
            </a:pPr>
            <a:r>
              <a:t>T = 10,000 days</a:t>
            </a:r>
          </a:p>
          <a:p>
            <a:pPr>
              <a:spcAft>
                <a:spcPts val="200"/>
              </a:spcAft>
              <a:defRPr sz="1600">
                <a:solidFill>
                  <a:srgbClr val="253548"/>
                </a:solidFill>
              </a:defRPr>
            </a:pPr>
            <a:r>
              <a:t>Changed one compartment at a time</a:t>
            </a:r>
          </a:p>
          <a:p>
            <a:pPr>
              <a:spcAft>
                <a:spcPts val="200"/>
              </a:spcAft>
              <a:defRPr sz="1600">
                <a:solidFill>
                  <a:srgbClr val="253548"/>
                </a:solidFill>
              </a:defRPr>
            </a:pPr>
            <a:r>
              <a:t>IC multipliers: 0.1x, 0.2x, 0.5x, 1x, 2x, 5x, 10x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965960"/>
            <a:ext cx="6537960" cy="2743200"/>
          </a:xfrm>
          <a:prstGeom prst="roundRect">
            <a:avLst/>
          </a:prstGeom>
          <a:solidFill>
            <a:srgbClr val="F1F4F8"/>
          </a:solidFill>
          <a:ln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83480" y="184708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3426C"/>
                </a:solidFill>
              </a:rPr>
              <a:t>Baseline initial conditions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983480" y="2240280"/>
          <a:ext cx="55778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3426C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rgbClr val="E5DF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3426C"/>
                          </a:solidFill>
                        </a:rPr>
                        <a:t>Baseline IC</a:t>
                      </a:r>
                    </a:p>
                  </a:txBody>
                  <a:tcPr>
                    <a:solidFill>
                      <a:srgbClr val="E5DF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3548"/>
                          </a:solidFill>
                        </a:rPr>
                        <a:t>Tumor(0)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3548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3548"/>
                          </a:solidFill>
                        </a:rPr>
                        <a:t>MDSC(0)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3548"/>
                          </a:solidFill>
                        </a:rPr>
                        <a:t>500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3548"/>
                          </a:solidFill>
                        </a:rPr>
                        <a:t>NK(0)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3548"/>
                          </a:solidFill>
                        </a:rPr>
                        <a:t>2.29e+05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3548"/>
                          </a:solidFill>
                        </a:rPr>
                        <a:t>CTL(0)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3548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3548"/>
                          </a:solidFill>
                        </a:rPr>
                        <a:t>B(0)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3548"/>
                          </a:solidFill>
                        </a:rPr>
                        <a:t>1.43e+05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3232" y="5074920"/>
            <a:ext cx="9947210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6A3FD6"/>
                </a:solidFill>
              </a:rPr>
              <a:t>Readout : long-time thresholds for T(10000) &lt; 1e5 and T(10000) &lt; 1e3, plus near-threshold state trajectories.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64592"/>
            <a:ext cx="11823192" cy="822960"/>
          </a:xfrm>
          <a:prstGeom prst="rect">
            <a:avLst/>
          </a:prstGeom>
          <a:solidFill>
            <a:srgbClr val="23426C"/>
          </a:solidFill>
          <a:ln>
            <a:solidFill>
              <a:srgbClr val="234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Finding 1: most IC changes barely move the long-time b6 threshold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515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A78"/>
                </a:solidFill>
              </a:rPr>
              <a:t>Relative threshold view makes the robustness pattern visible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01968"/>
            <a:ext cx="11064240" cy="27432"/>
          </a:xfrm>
          <a:prstGeom prst="rect">
            <a:avLst/>
          </a:prstGeom>
          <a:solidFill>
            <a:srgbClr val="C6D2E0"/>
          </a:solidFill>
          <a:ln>
            <a:solidFill>
              <a:srgbClr val="C6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06A78"/>
                </a:solidFill>
              </a:rPr>
              <a:t>B-cell MDSC model | Step 2 IC robustness</a:t>
            </a:r>
          </a:p>
        </p:txBody>
      </p:sp>
      <p:pic>
        <p:nvPicPr>
          <p:cNvPr id="7" name="Picture 6" descr="ic_thresholds_relative_be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17320"/>
            <a:ext cx="8183879" cy="39776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732520" y="1691640"/>
            <a:ext cx="2926080" cy="3291840"/>
          </a:xfrm>
          <a:prstGeom prst="roundRect">
            <a:avLst/>
          </a:prstGeom>
          <a:solidFill>
            <a:srgbClr val="F1F4F8"/>
          </a:solidFill>
          <a:ln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23426C"/>
                </a:solidFill>
              </a:rPr>
              <a:t>Readout</a:t>
            </a:r>
          </a:p>
          <a:p>
            <a:pPr>
              <a:spcAft>
                <a:spcPts val="200"/>
              </a:spcAft>
              <a:defRPr sz="1600">
                <a:solidFill>
                  <a:srgbClr val="253548"/>
                </a:solidFill>
              </a:defRPr>
            </a:pPr>
            <a:r>
              <a:t>For T(10000) &lt; 1e5, almost all IC perturbations stay near the same b6 threshold.</a:t>
            </a:r>
          </a:p>
          <a:p>
            <a:pPr>
              <a:spcAft>
                <a:spcPts val="200"/>
              </a:spcAft>
              <a:defRPr sz="1600">
                <a:solidFill>
                  <a:srgbClr val="253548"/>
                </a:solidFill>
              </a:defRPr>
            </a:pPr>
            <a:r>
              <a:t>Only NK(0) = 0.2x baseline clearly shifts the loose threshold upward.</a:t>
            </a:r>
          </a:p>
          <a:p>
            <a:pPr>
              <a:spcAft>
                <a:spcPts val="200"/>
              </a:spcAft>
              <a:defRPr sz="1600">
                <a:solidFill>
                  <a:srgbClr val="253548"/>
                </a:solidFill>
              </a:defRPr>
            </a:pPr>
            <a:r>
              <a:t>For T(10000) &lt; 1e3, the stricter threshold is essentially unchanged across tested 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5230368"/>
            <a:ext cx="3566160" cy="676656"/>
          </a:xfrm>
          <a:prstGeom prst="roundRect">
            <a:avLst/>
          </a:prstGeom>
          <a:solidFill>
            <a:srgbClr val="E5DFC4"/>
          </a:solidFill>
          <a:ln>
            <a:solidFill>
              <a:srgbClr val="BCB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3426C"/>
                </a:solidFill>
              </a:rPr>
              <a:t>Interpretation: the long-time threshold is robust; low NK mainly affects how much b6 is needed for partial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64592"/>
            <a:ext cx="11823192" cy="822960"/>
          </a:xfrm>
          <a:prstGeom prst="rect">
            <a:avLst/>
          </a:prstGeom>
          <a:solidFill>
            <a:srgbClr val="23426C"/>
          </a:solidFill>
          <a:ln>
            <a:solidFill>
              <a:srgbClr val="234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Finding 2: the phase boundary stays almost vertical across IC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515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A78"/>
                </a:solidFill>
              </a:rPr>
              <a:t>Phase-style heatmap: controlled / intermediate / tumor-dominant regimes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01968"/>
            <a:ext cx="11064240" cy="27432"/>
          </a:xfrm>
          <a:prstGeom prst="rect">
            <a:avLst/>
          </a:prstGeom>
          <a:solidFill>
            <a:srgbClr val="C6D2E0"/>
          </a:solidFill>
          <a:ln>
            <a:solidFill>
              <a:srgbClr val="C6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06A78"/>
                </a:solidFill>
              </a:rPr>
              <a:t>B-cell MDSC model | Step 2 IC robustness</a:t>
            </a:r>
          </a:p>
        </p:txBody>
      </p:sp>
      <p:pic>
        <p:nvPicPr>
          <p:cNvPr id="7" name="Picture 6" descr="ic_discrete_phas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1380744"/>
            <a:ext cx="6412229" cy="508406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46720" y="1691640"/>
            <a:ext cx="3474720" cy="3337560"/>
          </a:xfrm>
          <a:prstGeom prst="roundRect">
            <a:avLst/>
          </a:prstGeom>
          <a:solidFill>
            <a:srgbClr val="F1F4F8"/>
          </a:solidFill>
          <a:ln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23426C"/>
                </a:solidFill>
              </a:rPr>
              <a:t>What the heatmap shows</a:t>
            </a:r>
          </a:p>
          <a:p>
            <a:pPr>
              <a:spcAft>
                <a:spcPts val="200"/>
              </a:spcAft>
              <a:defRPr sz="1600">
                <a:solidFill>
                  <a:srgbClr val="253548"/>
                </a:solidFill>
              </a:defRPr>
            </a:pPr>
            <a:r>
              <a:t>Across Tumor(0), MDSC(0), CTL(0), and B(0), the regime boundary barely shifts.</a:t>
            </a:r>
          </a:p>
          <a:p>
            <a:pPr>
              <a:spcAft>
                <a:spcPts val="200"/>
              </a:spcAft>
              <a:defRPr sz="1600">
                <a:solidFill>
                  <a:srgbClr val="253548"/>
                </a:solidFill>
              </a:defRPr>
            </a:pPr>
            <a:r>
              <a:t>The main exception is low NK(0), which modestly pushes the boundary to the right.</a:t>
            </a:r>
          </a:p>
          <a:p>
            <a:pPr>
              <a:spcAft>
                <a:spcPts val="200"/>
              </a:spcAft>
              <a:defRPr sz="1600">
                <a:solidFill>
                  <a:srgbClr val="253548"/>
                </a:solidFill>
              </a:defRPr>
            </a:pPr>
            <a:r>
              <a:t>This supports a parameter-driven transition rather than a baseline-IC artifact.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5349240"/>
            <a:ext cx="3291840" cy="713232"/>
          </a:xfrm>
          <a:prstGeom prst="roundRect">
            <a:avLst/>
          </a:prstGeom>
          <a:solidFill>
            <a:srgbClr val="E5DFC4"/>
          </a:solidFill>
          <a:ln>
            <a:solidFill>
              <a:srgbClr val="BCB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/>
            <a:r>
              <a:rPr sz="1800" b="1">
                <a:solidFill>
                  <a:srgbClr val="23426C"/>
                </a:solidFill>
              </a:rPr>
              <a:t>Takeaway: b6 controls the regime, while most IC changes do not.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64592"/>
            <a:ext cx="11823192" cy="804672"/>
          </a:xfrm>
          <a:prstGeom prst="rect">
            <a:avLst/>
          </a:prstGeom>
          <a:solidFill>
            <a:srgbClr val="243F5C"/>
          </a:solidFill>
          <a:ln>
            <a:solidFill>
              <a:srgbClr val="24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Aptos"/>
              </a:rPr>
              <a:t>Finding 3: near the threshold, low NK(0) is the only clearly visible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607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775"/>
                </a:solidFill>
                <a:latin typeface="Aptos"/>
              </a:rPr>
              <a:t>Representative trajectories at b6 = 8e-7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65392"/>
            <a:ext cx="10972800" cy="9144"/>
          </a:xfrm>
          <a:prstGeom prst="rect">
            <a:avLst/>
          </a:prstGeom>
          <a:solidFill>
            <a:srgbClr val="CDD6E0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2743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775"/>
                </a:solidFill>
                <a:latin typeface="Aptos"/>
              </a:rPr>
              <a:t>B-cell MDSC model | Step 2 IC robustness</a:t>
            </a:r>
          </a:p>
        </p:txBody>
      </p:sp>
      <p:pic>
        <p:nvPicPr>
          <p:cNvPr id="7" name="Picture 6" descr="ic_nk_focus_trajectories_b6_8em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22" y="1616202"/>
            <a:ext cx="7718729" cy="43022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02752" y="1508760"/>
            <a:ext cx="3154680" cy="3290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dirty="0">
                <a:solidFill>
                  <a:srgbClr val="212C3A"/>
                </a:solidFill>
                <a:latin typeface="Aptos"/>
              </a:rPr>
              <a:t>Varying Tumor(0), MDSC(0), CTL(0), or B(0) gives very similar long-time tumor trajectories</a:t>
            </a:r>
          </a:p>
          <a:p>
            <a:pPr>
              <a:spcAft>
                <a:spcPts val="500"/>
              </a:spcAft>
            </a:pPr>
            <a:endParaRPr lang="en-US" sz="1700" dirty="0">
              <a:solidFill>
                <a:srgbClr val="212C3A"/>
              </a:solidFill>
              <a:latin typeface="Aptos"/>
            </a:endParaRPr>
          </a:p>
          <a:p>
            <a:pPr>
              <a:spcAft>
                <a:spcPts val="500"/>
              </a:spcAft>
            </a:pPr>
            <a:r>
              <a:rPr sz="1700" dirty="0">
                <a:solidFill>
                  <a:srgbClr val="212C3A"/>
                </a:solidFill>
                <a:latin typeface="Aptos"/>
              </a:rPr>
              <a:t>Reducing NK(0) makes tumor control harder near the threshold</a:t>
            </a:r>
          </a:p>
          <a:p>
            <a:pPr>
              <a:spcAft>
                <a:spcPts val="500"/>
              </a:spcAft>
            </a:pPr>
            <a:endParaRPr lang="en-US" sz="1700" dirty="0">
              <a:solidFill>
                <a:srgbClr val="212C3A"/>
              </a:solidFill>
              <a:latin typeface="Aptos"/>
            </a:endParaRPr>
          </a:p>
          <a:p>
            <a:pPr>
              <a:spcAft>
                <a:spcPts val="500"/>
              </a:spcAft>
            </a:pPr>
            <a:endParaRPr lang="en-US" sz="1700" dirty="0">
              <a:solidFill>
                <a:srgbClr val="212C3A"/>
              </a:solidFill>
              <a:latin typeface="Aptos"/>
            </a:endParaRPr>
          </a:p>
          <a:p>
            <a:pPr>
              <a:spcAft>
                <a:spcPts val="500"/>
              </a:spcAft>
            </a:pPr>
            <a:r>
              <a:rPr sz="1700" dirty="0">
                <a:solidFill>
                  <a:srgbClr val="212C3A"/>
                </a:solidFill>
                <a:latin typeface="Aptos"/>
              </a:rPr>
              <a:t>NK is the main IC sensitivity to carry forward.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956048"/>
            <a:ext cx="3246120" cy="786384"/>
          </a:xfrm>
          <a:prstGeom prst="roundRect">
            <a:avLst/>
          </a:prstGeom>
          <a:solidFill>
            <a:srgbClr val="EDE6CC"/>
          </a:solidFill>
          <a:ln>
            <a:solidFill>
              <a:srgbClr val="B4C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 dirty="0">
                <a:solidFill>
                  <a:srgbClr val="243F5C"/>
                </a:solidFill>
                <a:latin typeface="Aptos"/>
              </a:rPr>
              <a:t>Takeaway: if we extend IC tests, NK-focused perturbations are the most informative.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64592"/>
            <a:ext cx="11823192" cy="822960"/>
          </a:xfrm>
          <a:prstGeom prst="rect">
            <a:avLst/>
          </a:prstGeom>
          <a:solidFill>
            <a:srgbClr val="23426C"/>
          </a:solidFill>
          <a:ln>
            <a:solidFill>
              <a:srgbClr val="234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Finding 3: low NK(0) is the only clear sensitivity near the threshold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515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A78"/>
                </a:solidFill>
              </a:rPr>
              <a:t>Full-state trajectories at b6 = 8e-7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01968"/>
            <a:ext cx="11064240" cy="27432"/>
          </a:xfrm>
          <a:prstGeom prst="rect">
            <a:avLst/>
          </a:prstGeom>
          <a:solidFill>
            <a:srgbClr val="C6D2E0"/>
          </a:solidFill>
          <a:ln>
            <a:solidFill>
              <a:srgbClr val="C6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06A78"/>
                </a:solidFill>
              </a:rPr>
              <a:t>B-cell MDSC model | Step 2 IC robustness</a:t>
            </a:r>
          </a:p>
        </p:txBody>
      </p:sp>
      <p:pic>
        <p:nvPicPr>
          <p:cNvPr id="7" name="Picture 6" descr="supp_state_nk0_b6_8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9" y="1371600"/>
            <a:ext cx="5182362" cy="4983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83879" y="1737360"/>
            <a:ext cx="3200400" cy="3246120"/>
          </a:xfrm>
          <a:prstGeom prst="roundRect">
            <a:avLst/>
          </a:prstGeom>
          <a:solidFill>
            <a:srgbClr val="F1F4F8"/>
          </a:solidFill>
          <a:ln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23426C"/>
                </a:solidFill>
              </a:rPr>
              <a:t>Why NK matters</a:t>
            </a:r>
          </a:p>
          <a:p>
            <a:pPr>
              <a:spcAft>
                <a:spcPts val="200"/>
              </a:spcAft>
              <a:defRPr sz="1600">
                <a:solidFill>
                  <a:srgbClr val="253548"/>
                </a:solidFill>
              </a:defRPr>
            </a:pPr>
            <a:r>
              <a:t>Reducing NK(0) makes tumor control harder near the threshold.</a:t>
            </a:r>
          </a:p>
          <a:p>
            <a:pPr>
              <a:spcAft>
                <a:spcPts val="200"/>
              </a:spcAft>
              <a:defRPr sz="1600">
                <a:solidFill>
                  <a:srgbClr val="253548"/>
                </a:solidFill>
              </a:defRPr>
            </a:pPr>
            <a:r>
              <a:t>Other IC changes do not produce a comparably strong long-time effect.</a:t>
            </a:r>
          </a:p>
          <a:p>
            <a:pPr>
              <a:spcAft>
                <a:spcPts val="200"/>
              </a:spcAft>
              <a:defRPr sz="1600">
                <a:solidFill>
                  <a:srgbClr val="253548"/>
                </a:solidFill>
              </a:defRPr>
            </a:pPr>
            <a:r>
              <a:t>This is consistent with the NK-rich baseline setting of the original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5376672"/>
            <a:ext cx="3200400" cy="713232"/>
          </a:xfrm>
          <a:prstGeom prst="roundRect">
            <a:avLst/>
          </a:prstGeom>
          <a:solidFill>
            <a:srgbClr val="E5DFC4"/>
          </a:solidFill>
          <a:ln>
            <a:solidFill>
              <a:srgbClr val="BCB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/>
            <a:r>
              <a:rPr sz="1800" b="1">
                <a:solidFill>
                  <a:srgbClr val="23426C"/>
                </a:solidFill>
              </a:rPr>
              <a:t>If more IC tests are needed, NK-focused perturbations are the most informative.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64592"/>
            <a:ext cx="11823192" cy="822960"/>
          </a:xfrm>
          <a:prstGeom prst="rect">
            <a:avLst/>
          </a:prstGeom>
          <a:solidFill>
            <a:srgbClr val="23426C"/>
          </a:solidFill>
          <a:ln>
            <a:solidFill>
              <a:srgbClr val="234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Supplementary check: lowering B(0) does not change the threshold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271779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606A78"/>
                </a:solidFill>
              </a:rPr>
              <a:t>Expanded IC range includes 0.1x and 10x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01968"/>
            <a:ext cx="11064240" cy="27432"/>
          </a:xfrm>
          <a:prstGeom prst="rect">
            <a:avLst/>
          </a:prstGeom>
          <a:solidFill>
            <a:srgbClr val="C6D2E0"/>
          </a:solidFill>
          <a:ln>
            <a:solidFill>
              <a:srgbClr val="C6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06A78"/>
                </a:solidFill>
              </a:rPr>
              <a:t>B-cell MDSC model | Step 2 IC robustness</a:t>
            </a:r>
          </a:p>
        </p:txBody>
      </p:sp>
      <p:pic>
        <p:nvPicPr>
          <p:cNvPr id="7" name="Picture 6" descr="supp_state_b0_b6_8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403" y="1353312"/>
            <a:ext cx="4826597" cy="4983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83879" y="1737360"/>
            <a:ext cx="3200400" cy="3246120"/>
          </a:xfrm>
          <a:prstGeom prst="roundRect">
            <a:avLst/>
          </a:prstGeom>
          <a:solidFill>
            <a:srgbClr val="F1F4F8"/>
          </a:solidFill>
          <a:ln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23426C"/>
                </a:solidFill>
              </a:rPr>
              <a:t>Why this was added</a:t>
            </a:r>
          </a:p>
          <a:p>
            <a:pPr>
              <a:spcAft>
                <a:spcPts val="200"/>
              </a:spcAft>
              <a:defRPr sz="1600">
                <a:solidFill>
                  <a:srgbClr val="253548"/>
                </a:solidFill>
              </a:defRPr>
            </a:pPr>
            <a:r>
              <a:t>Low B(0) was tested because Adam noted simulated B may be higher than biologically realistic.</a:t>
            </a:r>
          </a:p>
          <a:p>
            <a:pPr>
              <a:spcAft>
                <a:spcPts val="200"/>
              </a:spcAft>
              <a:defRPr sz="1600">
                <a:solidFill>
                  <a:srgbClr val="253548"/>
                </a:solidFill>
              </a:defRPr>
            </a:pPr>
            <a:r>
              <a:t>Even with 0.1x and 10x checks, the qualitative threshold story stays the same.</a:t>
            </a:r>
          </a:p>
          <a:p>
            <a:pPr>
              <a:spcAft>
                <a:spcPts val="200"/>
              </a:spcAft>
              <a:defRPr sz="1600">
                <a:solidFill>
                  <a:srgbClr val="253548"/>
                </a:solidFill>
              </a:defRPr>
            </a:pPr>
            <a:r>
              <a:t>So the switch-like behavior is not simply driven by a large baseline B compartment.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5376672"/>
            <a:ext cx="3200400" cy="713232"/>
          </a:xfrm>
          <a:prstGeom prst="roundRect">
            <a:avLst/>
          </a:prstGeom>
          <a:solidFill>
            <a:srgbClr val="E5DFC4"/>
          </a:solidFill>
          <a:ln>
            <a:solidFill>
              <a:srgbClr val="BCB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/>
            <a:r>
              <a:rPr sz="1800" b="1">
                <a:solidFill>
                  <a:srgbClr val="23426C"/>
                </a:solidFill>
              </a:rPr>
              <a:t>Expanded 0.1x-10x checks support the same main conclusion.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64592"/>
            <a:ext cx="11823192" cy="822960"/>
          </a:xfrm>
          <a:prstGeom prst="rect">
            <a:avLst/>
          </a:prstGeom>
          <a:solidFill>
            <a:srgbClr val="23426C"/>
          </a:solidFill>
          <a:ln>
            <a:solidFill>
              <a:srgbClr val="234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Summary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515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A78"/>
                </a:solidFill>
              </a:rPr>
              <a:t>Step 2 asks whether the long-time b6 switch survives IC perturbations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01968"/>
            <a:ext cx="11064240" cy="27432"/>
          </a:xfrm>
          <a:prstGeom prst="rect">
            <a:avLst/>
          </a:prstGeom>
          <a:solidFill>
            <a:srgbClr val="C6D2E0"/>
          </a:solidFill>
          <a:ln>
            <a:solidFill>
              <a:srgbClr val="C6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06A78"/>
                </a:solidFill>
              </a:rPr>
              <a:t>B-cell MDSC model | Step 2 IC robustness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4892040" cy="3611880"/>
          </a:xfrm>
          <a:prstGeom prst="roundRect">
            <a:avLst/>
          </a:prstGeom>
          <a:solidFill>
            <a:srgbClr val="F1F4F8"/>
          </a:solidFill>
          <a:ln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23426C"/>
                </a:solidFill>
              </a:rPr>
              <a:t>What Step 2 establishes</a:t>
            </a:r>
          </a:p>
          <a:p>
            <a:pPr>
              <a:spcAft>
                <a:spcPts val="200"/>
              </a:spcAft>
              <a:defRPr sz="1600">
                <a:solidFill>
                  <a:srgbClr val="253548"/>
                </a:solidFill>
              </a:defRPr>
            </a:pPr>
            <a:r>
              <a:t>The long-time b6 threshold persists under most one-at-a-time IC changes.</a:t>
            </a:r>
          </a:p>
          <a:p>
            <a:pPr>
              <a:spcAft>
                <a:spcPts val="200"/>
              </a:spcAft>
              <a:defRPr sz="1600">
                <a:solidFill>
                  <a:srgbClr val="253548"/>
                </a:solidFill>
              </a:defRPr>
            </a:pPr>
            <a:r>
              <a:t>The stricter control threshold is especially stable.</a:t>
            </a:r>
          </a:p>
          <a:p>
            <a:pPr>
              <a:spcAft>
                <a:spcPts val="200"/>
              </a:spcAft>
              <a:defRPr sz="1600">
                <a:solidFill>
                  <a:srgbClr val="253548"/>
                </a:solidFill>
              </a:defRPr>
            </a:pPr>
            <a:r>
              <a:t>Low NK(0) is the only clear sensitivity in the tested range.</a:t>
            </a:r>
          </a:p>
          <a:p>
            <a:pPr>
              <a:spcAft>
                <a:spcPts val="200"/>
              </a:spcAft>
              <a:defRPr sz="1600">
                <a:solidFill>
                  <a:srgbClr val="253548"/>
                </a:solidFill>
              </a:defRPr>
            </a:pPr>
            <a:r>
              <a:t>Expanded 0.1x-10x checks do not change the main conclusion.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91640"/>
            <a:ext cx="5074920" cy="3611880"/>
          </a:xfrm>
          <a:prstGeom prst="roundRect">
            <a:avLst/>
          </a:prstGeom>
          <a:solidFill>
            <a:srgbClr val="F1F4F8"/>
          </a:solidFill>
          <a:ln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23426C"/>
                </a:solidFill>
              </a:rPr>
              <a:t>Potential next steps</a:t>
            </a:r>
          </a:p>
          <a:p>
            <a:pPr>
              <a:spcAft>
                <a:spcPts val="200"/>
              </a:spcAft>
              <a:defRPr sz="1600">
                <a:solidFill>
                  <a:srgbClr val="253548"/>
                </a:solidFill>
              </a:defRPr>
            </a:pPr>
            <a:r>
              <a:t>Refine the long-time b5 × b6 phase diagram.</a:t>
            </a:r>
          </a:p>
          <a:p>
            <a:pPr>
              <a:spcAft>
                <a:spcPts val="200"/>
              </a:spcAft>
              <a:defRPr sz="1600">
                <a:solidFill>
                  <a:srgbClr val="253548"/>
                </a:solidFill>
              </a:defRPr>
            </a:pPr>
            <a:r>
              <a:t>Run up-sweep / down-sweep continuation to test switch vs bifurcation-like behavior.</a:t>
            </a:r>
          </a:p>
          <a:p>
            <a:pPr>
              <a:spcAft>
                <a:spcPts val="200"/>
              </a:spcAft>
              <a:defRPr sz="1600">
                <a:solidFill>
                  <a:srgbClr val="253548"/>
                </a:solidFill>
              </a:defRPr>
            </a:pPr>
            <a:r>
              <a:t>If more IC testing is needed, prioritize more extreme or combined NK-focused conditions.</a:t>
            </a:r>
          </a:p>
          <a:p>
            <a:pPr>
              <a:spcAft>
                <a:spcPts val="200"/>
              </a:spcAft>
              <a:defRPr sz="1600">
                <a:solidFill>
                  <a:srgbClr val="253548"/>
                </a:solidFill>
              </a:defRPr>
            </a:pPr>
            <a:r>
              <a:t>Return to SDE only after the long-time ODE transition is fully characterized.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577840"/>
            <a:ext cx="10378440" cy="713232"/>
          </a:xfrm>
          <a:prstGeom prst="roundRect">
            <a:avLst/>
          </a:prstGeom>
          <a:solidFill>
            <a:srgbClr val="E5DFC4"/>
          </a:solidFill>
          <a:ln>
            <a:solidFill>
              <a:srgbClr val="BCB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/>
            <a:r>
              <a:rPr sz="1800" b="1">
                <a:solidFill>
                  <a:srgbClr val="23426C"/>
                </a:solidFill>
              </a:rPr>
              <a:t>Bottom line: keep the direct CTL model, treat b6 as the main parameter, and use NK-focused checks to probe the transition further.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64592"/>
            <a:ext cx="11823192" cy="822960"/>
          </a:xfrm>
          <a:prstGeom prst="rect">
            <a:avLst/>
          </a:prstGeom>
          <a:solidFill>
            <a:srgbClr val="23426C"/>
          </a:solidFill>
          <a:ln>
            <a:solidFill>
              <a:srgbClr val="234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Appendix: raw threshold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515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6A78"/>
                </a:solidFill>
              </a:rPr>
              <a:t>Supporting view of the same robustness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01968"/>
            <a:ext cx="11064240" cy="27432"/>
          </a:xfrm>
          <a:prstGeom prst="rect">
            <a:avLst/>
          </a:prstGeom>
          <a:solidFill>
            <a:srgbClr val="C6D2E0"/>
          </a:solidFill>
          <a:ln>
            <a:solidFill>
              <a:srgbClr val="C6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06A78"/>
                </a:solidFill>
              </a:rPr>
              <a:t>B-cell MDSC model | Step 2 IC robustness</a:t>
            </a:r>
          </a:p>
        </p:txBody>
      </p:sp>
      <p:pic>
        <p:nvPicPr>
          <p:cNvPr id="7" name="Picture 6" descr="ic_thresholds_raw_be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71016"/>
            <a:ext cx="10035540" cy="46414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10BB39-D43F-C9EE-608C-8FF3002FF7E3}"/>
              </a:ext>
            </a:extLst>
          </p:cNvPr>
          <p:cNvSpPr txBox="1"/>
          <p:nvPr/>
        </p:nvSpPr>
        <p:spPr>
          <a:xfrm>
            <a:off x="1426733" y="6059757"/>
            <a:ext cx="10186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US" sz="1800" dirty="0">
                <a:solidFill>
                  <a:srgbClr val="212C3A"/>
                </a:solidFill>
                <a:latin typeface="Aptos"/>
              </a:rPr>
              <a:t>The raw plot is consistent with the relative plot, only low NK(0) showing a noticeable shift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811</Words>
  <Application>Microsoft Macintosh PowerPoint</Application>
  <PresentationFormat>Widescreen</PresentationFormat>
  <Paragraphs>84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Selina Li</cp:lastModifiedBy>
  <cp:revision>2</cp:revision>
  <dcterms:created xsi:type="dcterms:W3CDTF">2013-01-27T09:14:16Z</dcterms:created>
  <dcterms:modified xsi:type="dcterms:W3CDTF">2026-04-23T17:43:50Z</dcterms:modified>
  <cp:category/>
</cp:coreProperties>
</file>